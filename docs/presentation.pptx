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Roboto Black"/>
      <p:bold r:id="rId27"/>
      <p:boldItalic r:id="rId28"/>
    </p:embeddedFont>
    <p:embeddedFont>
      <p:font typeface="Roboto Medium"/>
      <p:regular r:id="rId29"/>
      <p:bold r:id="rId30"/>
      <p:italic r:id="rId31"/>
      <p:boldItalic r:id="rId32"/>
    </p:embeddedFont>
    <p:embeddedFont>
      <p:font typeface="Roboto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RobotoBlack-boldItalic.fntdata"/><Relationship Id="rId27" Type="http://schemas.openxmlformats.org/officeDocument/2006/relationships/font" Target="fonts/Roboto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edium-italic.fntdata"/><Relationship Id="rId30" Type="http://schemas.openxmlformats.org/officeDocument/2006/relationships/font" Target="fonts/RobotoMedium-bold.fntdata"/><Relationship Id="rId11" Type="http://schemas.openxmlformats.org/officeDocument/2006/relationships/slide" Target="slides/slide6.xml"/><Relationship Id="rId33" Type="http://schemas.openxmlformats.org/officeDocument/2006/relationships/font" Target="fonts/Roboto-regular.fntdata"/><Relationship Id="rId10" Type="http://schemas.openxmlformats.org/officeDocument/2006/relationships/slide" Target="slides/slide5.xml"/><Relationship Id="rId32" Type="http://schemas.openxmlformats.org/officeDocument/2006/relationships/font" Target="fonts/RobotoMedium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-italic.fntdata"/><Relationship Id="rId12" Type="http://schemas.openxmlformats.org/officeDocument/2006/relationships/slide" Target="slides/slide7.xml"/><Relationship Id="rId34" Type="http://schemas.openxmlformats.org/officeDocument/2006/relationships/font" Target="fonts/Roboto-bold.fntdata"/><Relationship Id="rId15" Type="http://schemas.openxmlformats.org/officeDocument/2006/relationships/slide" Target="slides/slide10.xml"/><Relationship Id="rId37" Type="http://schemas.openxmlformats.org/officeDocument/2006/relationships/font" Target="fonts/Lato-regular.fntdata"/><Relationship Id="rId14" Type="http://schemas.openxmlformats.org/officeDocument/2006/relationships/slide" Target="slides/slide9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39" Type="http://schemas.openxmlformats.org/officeDocument/2006/relationships/font" Target="fonts/Lato-italic.fntdata"/><Relationship Id="rId16" Type="http://schemas.openxmlformats.org/officeDocument/2006/relationships/slide" Target="slides/slide11.xml"/><Relationship Id="rId38" Type="http://schemas.openxmlformats.org/officeDocument/2006/relationships/font" Target="fonts/Lato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86ea868ccc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86ea868ccc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86ea868ccc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86ea868ccc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6ea868ccc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86ea868ccc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86ea868ccc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86ea868ccc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86ea868ccc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86ea868ccc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86ea868ccc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86ea868ccc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86ea868ccc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86ea868ccc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6ea868ccc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86ea868ccc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86ea868ccc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86ea868ccc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86ea868ccc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86ea868ccc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86ea868ccc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86ea868ccc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86ea868cc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86ea868cc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86ea868ccc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86ea868ccc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6ea868ccc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86ea868ccc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86ea868ccc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86ea868ccc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86ea868ccc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86ea868ccc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729450" y="1318650"/>
            <a:ext cx="3842700" cy="14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Black"/>
                <a:ea typeface="Roboto Black"/>
                <a:cs typeface="Roboto Black"/>
                <a:sym typeface="Roboto Black"/>
              </a:rPr>
              <a:t>AUTISM DETECTION </a:t>
            </a:r>
            <a:endParaRPr b="0"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Black"/>
                <a:ea typeface="Roboto Black"/>
                <a:cs typeface="Roboto Black"/>
                <a:sym typeface="Roboto Black"/>
              </a:rPr>
              <a:t>USING</a:t>
            </a:r>
            <a:endParaRPr b="0">
              <a:latin typeface="Roboto Black"/>
              <a:ea typeface="Roboto Black"/>
              <a:cs typeface="Roboto Black"/>
              <a:sym typeface="Roboto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Black"/>
                <a:ea typeface="Roboto Black"/>
                <a:cs typeface="Roboto Black"/>
                <a:sym typeface="Roboto Black"/>
              </a:rPr>
              <a:t>DEEP LEARNING</a:t>
            </a:r>
            <a:endParaRPr b="0"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What is Autism?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Autism Spectrum Disorder (ASD) is a neurodevelopmental disorder characterized by a spectrum of symptoms.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It affects social interaction, communication, behavior, and sensory processing.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ASD typically appears in early childhood, often before the age of 3.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It is a lifelong condition, but early intervention and support can significantly improve outcomes.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Challenges faced currently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Heterogeneity: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ASD presents as a wide spectrum with diverse symptoms, making diagnosis and treatment complex.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Late Diagnosis: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Many individuals are diagnosed later in life, delaying crucial early interventions.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Subjectivity: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Diagnosis relies on clinical assessments, which can vary among professionals.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Limited Resources: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In some regions, access to specialized ASD diagnosis and intervention services is limited.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Need for DL techniques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729450" y="2078875"/>
            <a:ext cx="7688700" cy="26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Early Intervention: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Early detection enables timely interventions and support, which can improve outcomes.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Objective Diagnosis: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Deep Learning (DL) techniques can provide more objective and consistent diagnosis results.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Handling Complex Data: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DL can process and analyze the vast and complex neuroimaging data associated with ASD.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Scalability: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DL models can be trained on large datasets, essential for studying the heterogeneity of ASD.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Research Acceleration: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DL can assist researchers in uncovering the neural bases of autism, advancing our understanding.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Methodology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729450" y="2078875"/>
            <a:ext cx="7688700" cy="292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Data Acquisition: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The methodology starts with the collection of neuroimaging data,  from ABIDE -I dataset, which includes functional and structural brain scans.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Data Preparation: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This involves converting NIfTI files to DICOM format for compatibility with deep learning models. This is followed by DICOM to PNG conversion, extraction of informative slices. 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Data Preprocessing: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Raw data is preprocessed, which involves converting grayscale images into RGB images, resizing the images to standard 224x224, normalization using mean and standard deviation.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DCNN Model: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A DCNN model is designed for feature extraction and classification. The model typically consists of multiple convolutional layers, each followed by activation functions like Leaky ReLU and Batch Normalization.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Data Acquisition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9450" y="2078875"/>
            <a:ext cx="7688700" cy="26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ABIDE Dataset: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The Autism Brain Imaging Data Exchange (ABIDE) initiative provides a rich source of neuroimaging data for ASD research.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ABIDE</a:t>
            </a: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-I: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ABIDE-I is the first phase of the ABIDE initiative, involving 17 international sites and collecting resting-state functional magnetic resonance imaging (rs-fMRI), anatomical, and phenotypic datasets.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Large-Scale Samples: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The ABIDE dataset comprises 1112 datasets, including 539 from individuals with ASD and 573 from typical controls, covering a broad age range (7-64 years).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Neuroimaging Data: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The dataset includes functional and structural brain imaging data, which are crucial for understanding the neural bases of autism.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00138"/>
            <a:ext cx="914400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0525"/>
            <a:ext cx="9144000" cy="43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6663" y="1452563"/>
            <a:ext cx="1590675" cy="22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Data Preparation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7" name="Google Shape;137;p22"/>
          <p:cNvSpPr txBox="1"/>
          <p:nvPr>
            <p:ph idx="1" type="body"/>
          </p:nvPr>
        </p:nvSpPr>
        <p:spPr>
          <a:xfrm>
            <a:off x="729450" y="2078875"/>
            <a:ext cx="7688700" cy="27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Neuroimaging File Format: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NIfTI is a standard file format used in neuroimaging for storing MRI and functional MRI (fMRI) data. It supports 3D and 4D data, allowing the storage of multi-dimensional brain imaging data.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Digital Imaging and Communications in Medicine: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DICOM is a widely used standard for storing, transmitting, and sharing medical images, including MRI, CT, and X-ray scans. It supports the organization of images into series, which is crucial for medical diagnosis and treatment planning.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Converting NIfTI to DICOM is essential to overcome GPU memory limitations and efficiently train CNNs on large neuroimaging datasets.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Slice Extraction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It 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is essential to focus on specific cross-sectional views of 3D medical images, such as MRI scans.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It reduces computational complexity since processing the entire volume is resource-intensive.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Extracting relevant slices containing anatomical structures of interest simplifies the learning task for the model.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By isolating pertinent slices, noise and irrelevant information are minimized, enhancing model performance.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Data Preprocessing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Resizing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is required to standardize image dimensions, making them compatible with the model's input size, thereby preventing computational issues.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Normalization</a:t>
            </a:r>
            <a:r>
              <a:rPr lang="en" sz="1400">
                <a:latin typeface="Roboto"/>
                <a:ea typeface="Roboto"/>
                <a:cs typeface="Roboto"/>
                <a:sym typeface="Roboto"/>
              </a:rPr>
              <a:t> is necessary to bring pixel values within a common range (usually [0, 1] or [-1, 1] ), preventing convergence problems during training.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Mean and Standard Deviation Normalization scales pixel values by subtracting the mean and dividing by the standard deviation. This reduces data distribution disparities and enhances convergence.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DCNN Model</a:t>
            </a:r>
            <a:endParaRPr/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It consists of five convolutional layers followed by max-pooling, batch normalization, dropout, and fully connected layers.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The Leaky ReLU activation function (with a slope of 0.1) is used after each convolutional layer.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Batch normalization is applied after the second, third, and fourth convolutional layers to improve training stability.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Dropout layers are used after each max-pooling operation to reduce overfitting (dropout rate = 20%).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The final layer is a fully connected layer with 100 neurons.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Loss and Optimizer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729450" y="2078875"/>
            <a:ext cx="7688700" cy="26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The project uses the Cross-Entropy Loss (CCE) as the loss function. It is commonly used for multi-class classification tasks but it can be used for binary classification too.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The project uses Adam optimizer with the following hyperparameters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Learning Rate (η): The learning rate determines the step size during gradient descent. A value of 0.001 is chosen, which is commonly used for training deep neural networks.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Beta1 (β1): The first moment (mean) decay rate for the Adam optimizer is set to 0.9. This parameter influences the exponential moving average of gradients.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Beta2 (β2): The second moment (uncentered variance) decay rate for the Adam optimizer is set to 0.999. This parameter influences the exponential moving average of squared gradients.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Epsilon (ε): A small constant (1e-7) is added to the denominator in the Adam optimizer to prevent division by zero and numerical instability.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Results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1475" y="2078875"/>
            <a:ext cx="3636674" cy="256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458" y="2078875"/>
            <a:ext cx="3757784" cy="270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 Medium"/>
                <a:ea typeface="Roboto Medium"/>
                <a:cs typeface="Roboto Medium"/>
                <a:sym typeface="Roboto Medium"/>
              </a:rPr>
              <a:t>Future work of this project</a:t>
            </a:r>
            <a:endParaRPr b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729450" y="2078875"/>
            <a:ext cx="7688700" cy="27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Main Goal: </a:t>
            </a:r>
            <a:endParaRPr b="1"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Implement a novel transformer model for the project, marking a unique approach in the field of autism detection using deep learning techniques.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latin typeface="Roboto"/>
                <a:ea typeface="Roboto"/>
                <a:cs typeface="Roboto"/>
                <a:sym typeface="Roboto"/>
              </a:rPr>
              <a:t>Additional Goals:</a:t>
            </a:r>
            <a:endParaRPr b="1"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Test a new methodology for slice extraction, leveraging pretrained ResNet models and extracting the most relevant and informative slices and implement if successful.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400">
                <a:latin typeface="Roboto"/>
                <a:ea typeface="Roboto"/>
                <a:cs typeface="Roboto"/>
                <a:sym typeface="Roboto"/>
              </a:rPr>
              <a:t>Incorporate early stopping mechanisms to prevent overfitting during model training, enhancing the model's generalization capabilities.</a:t>
            </a:r>
            <a:endParaRPr sz="1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